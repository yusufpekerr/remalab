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A13B"/>
                </a:solidFill>
                <a:latin typeface="Consolas"/>
              </a:rPr>
              <a:t>REMALAB WMS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9875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EDEFF5"/>
                </a:solidFill>
                <a:latin typeface="Segoe UI"/>
              </a:rPr>
              <a:t>Telefon yenileme hattını
tek bir sistemde yönetmek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77639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892B5"/>
                </a:solidFill>
                <a:latin typeface="Segoe UI"/>
              </a:rPr>
              <a:t>Depo kabulünden müşteriye sevkiyata kadar cihazın geçtiği her adımı, her onarımı, her parça hareketini ve her testi kayda alan masaüstü uygulaması.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5074920"/>
            <a:ext cx="3108960" cy="28575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30352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892B5"/>
                </a:solidFill>
                <a:latin typeface="Consolas"/>
              </a:rPr>
              <a:t>Depo  ·  Test  ·  Demontaj  ·  Onarım  ·  Sevkiyat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Hattın belleği kâğıtta ve kafalardaydı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675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8892B5"/>
                </a:solidFill>
                <a:latin typeface="Segoe UI"/>
              </a:rPr>
              <a:t>Bir cihaza kimin, hangi parçayı ne zaman taktığı; testten neden döndüğü; müşterinin neye onay verdiği — hepsi ayrı yerlerde tutuluyordu.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64922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>
                <a:solidFill>
                  <a:srgbClr val="8892B5"/>
                </a:solidFill>
                <a:latin typeface="Segoe UI"/>
              </a:rPr>
              <a:t>—  Cihaz hangi aşamada, kimde bekliyor belirsiz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>
                <a:solidFill>
                  <a:srgbClr val="8892B5"/>
                </a:solidFill>
                <a:latin typeface="Segoe UI"/>
              </a:rPr>
              <a:t>—  Aynı parça iki kez talep edilebiliyor, stok tutmuyor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>
                <a:solidFill>
                  <a:srgbClr val="8892B5"/>
                </a:solidFill>
                <a:latin typeface="Segoe UI"/>
              </a:rPr>
              <a:t>—  Onarım sırası kişiye göre değişiyor; L1 ekibi bitmemiş bir ekranın üstünde çalışıyor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>
                <a:solidFill>
                  <a:srgbClr val="8892B5"/>
                </a:solidFill>
                <a:latin typeface="Segoe UI"/>
              </a:rPr>
              <a:t>—  Müşteri onayı gereken iş, onay alınmadan yapılabiliyor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>
                <a:solidFill>
                  <a:srgbClr val="8892B5"/>
                </a:solidFill>
                <a:latin typeface="Segoe UI"/>
              </a:rPr>
              <a:t>—  Test sonuçları cihazın geçmişine bağlanmıyor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288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71816" y="2011680"/>
            <a:ext cx="1527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9A13B"/>
                </a:solidFill>
                <a:latin typeface="Consolas"/>
              </a:rPr>
              <a:t>24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cihaz statüsü —
kabulden sevkiyata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9488" y="18288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38944" y="2011680"/>
            <a:ext cx="1527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9A13B"/>
                </a:solidFill>
                <a:latin typeface="Consolas"/>
              </a:rPr>
              <a:t>9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onarım statüsü —
atamadan tamamlamaya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401568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71816" y="3584448"/>
            <a:ext cx="1527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9A13B"/>
                </a:solidFill>
                <a:latin typeface="Consolas"/>
              </a:rPr>
              <a:t>7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onarım ekibi,
sıralı çalışan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19488" y="3401568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38944" y="3584448"/>
            <a:ext cx="1527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9A13B"/>
                </a:solidFill>
                <a:latin typeface="Consolas"/>
              </a:rPr>
              <a:t>3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test noktası,
PhoneCheck bağlı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MIMARI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Tek pencere, iki dünya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8892B5"/>
                </a:solidFill>
                <a:latin typeface="Segoe UI"/>
              </a:rPr>
              <a:t>Kullanıcı tek bir masaüstü uygulaması görüyor. İçinde modern bir web arayüzü ile Python iş mantığı yan yana çalışıyor; ikisi QWebChannel köprüsüyle konuşuyor.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97480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935224"/>
            <a:ext cx="3026664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ARAYÜZ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React 19 + Vite + Tailwind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Qt WebEngine (Chromium) içinde açılan tek sayfalı uygulama. 63 dosya, ~33.500 satır. Ekranlar rol bazlı menülerle ayrılmış.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697480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E9A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935224"/>
            <a:ext cx="3026664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KÖPRÜ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QWebChannel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Arayüzdeki her api.xxx() çağrısı Python tarafında bir @Slot'a düşer ve JSON döner. Masaüstünde doğrudan, tarayıcıda WebSocket üzerinden.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97480"/>
            <a:ext cx="3502152" cy="214884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2935224"/>
            <a:ext cx="3026664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İŞ MANTIĞI + VERİ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Python + PySide6 + SQLAlchemy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Bütün kurallar burada. core/web_bridge.py sistemin kalbi; uzak PostgreSQL sunucusuna SQLAlchemy ile bağlanır.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212080"/>
            <a:ext cx="25603" cy="566928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212080"/>
            <a:ext cx="106920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892B5"/>
                </a:solidFill>
                <a:latin typeface="Segoe UI"/>
              </a:rPr>
              <a:t>Neden önemli: kural arayüzde de var ama arayüz hiçbir zaman tek bekçi değil. Bir ekran atlanırsa ya da eski bir sürüm çalışırsa kural yine backend'de uygulanıyor.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CIHAZIN YOLCULUĞU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EDEFF5"/>
                </a:solidFill>
                <a:latin typeface="Segoe UI"/>
              </a:rPr>
              <a:t>Statü akışı — kabulden sevkiyata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892B5"/>
                </a:solidFill>
                <a:latin typeface="Segoe UI"/>
              </a:rPr>
              <a:t>Her cihaz numaralı bir durum makinesinde ilerler. Geçişler serbest değil: hangi statüden hangisine gidilebileceği tanımlı (service_statu_map).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06040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606040"/>
            <a:ext cx="1705813" cy="29260"/>
          </a:xfrm>
          <a:prstGeom prst="rect">
            <a:avLst/>
          </a:prstGeom>
          <a:solidFill>
            <a:srgbClr val="889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752344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8892B5"/>
                </a:solidFill>
                <a:latin typeface="Consolas"/>
              </a:rPr>
              <a:t>100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Ön bildirim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2197" y="2606040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92197" y="2606040"/>
            <a:ext cx="1705813" cy="29260"/>
          </a:xfrm>
          <a:prstGeom prst="rect">
            <a:avLst/>
          </a:prstGeom>
          <a:solidFill>
            <a:srgbClr val="889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0213" y="2752344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8892B5"/>
                </a:solidFill>
                <a:latin typeface="Consolas"/>
              </a:rPr>
              <a:t>101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Depo kabulü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6026" y="2606040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6026" y="2606040"/>
            <a:ext cx="1705813" cy="292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4042" y="2752344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0A5FA"/>
                </a:solidFill>
                <a:latin typeface="Consolas"/>
              </a:rPr>
              <a:t>102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İlk teste aktarıldı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9855" y="2606040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9855" y="2606040"/>
            <a:ext cx="1705813" cy="292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7871" y="2752344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0A5FA"/>
                </a:solidFill>
                <a:latin typeface="Consolas"/>
              </a:rPr>
              <a:t>103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İlk test bekleniyor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3684" y="2606040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3684" y="2606040"/>
            <a:ext cx="1705813" cy="292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1700" y="2752344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0A5FA"/>
                </a:solidFill>
                <a:latin typeface="Consolas"/>
              </a:rPr>
              <a:t>104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İlk test tamamlandı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7513" y="2606040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7513" y="2606040"/>
            <a:ext cx="1705813" cy="29260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5529" y="2752344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9A13B"/>
                </a:solidFill>
                <a:latin typeface="Consolas"/>
              </a:rPr>
              <a:t>105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Planlama onayı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538728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538728"/>
            <a:ext cx="1705813" cy="292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3685032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A78BFA"/>
                </a:solidFill>
                <a:latin typeface="Consolas"/>
              </a:rPr>
              <a:t>106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Onaya gönderilecek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92197" y="3538728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92197" y="3538728"/>
            <a:ext cx="1705813" cy="292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20213" y="3685032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A78BFA"/>
                </a:solidFill>
                <a:latin typeface="Consolas"/>
              </a:rPr>
              <a:t>107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Müşteri onayı bekleniyor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6026" y="3538728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26026" y="3538728"/>
            <a:ext cx="1705813" cy="2926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4042" y="3685032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A78BFA"/>
                </a:solidFill>
                <a:latin typeface="Consolas"/>
              </a:rPr>
              <a:t>136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Onay / red alındı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9855" y="3538728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9855" y="3538728"/>
            <a:ext cx="1705813" cy="292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7871" y="3685032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34D399"/>
                </a:solidFill>
                <a:latin typeface="Consolas"/>
              </a:rPr>
              <a:t>109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Üretim aşamasında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93684" y="3538728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93684" y="3538728"/>
            <a:ext cx="1705813" cy="292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1700" y="3685032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0A5FA"/>
                </a:solidFill>
                <a:latin typeface="Consolas"/>
              </a:rPr>
              <a:t>138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Ara test bekleniyor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27513" y="3538728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27513" y="3538728"/>
            <a:ext cx="1705813" cy="292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55529" y="3685032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0A5FA"/>
                </a:solidFill>
                <a:latin typeface="Consolas"/>
              </a:rPr>
              <a:t>124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Son teste teslim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471416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4471416"/>
            <a:ext cx="1705813" cy="2926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4617720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0A5FA"/>
                </a:solidFill>
                <a:latin typeface="Consolas"/>
              </a:rPr>
              <a:t>125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Son teste kabul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92197" y="4471416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92197" y="4471416"/>
            <a:ext cx="1705813" cy="292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20213" y="4617720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34D399"/>
                </a:solidFill>
                <a:latin typeface="Consolas"/>
              </a:rPr>
              <a:t>126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Depoya sevk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26026" y="4471416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26026" y="4471416"/>
            <a:ext cx="1705813" cy="292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4042" y="4617720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34D399"/>
                </a:solidFill>
                <a:latin typeface="Consolas"/>
              </a:rPr>
              <a:t>127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Müşteriye sevkiyat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59855" y="4471416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59855" y="4471416"/>
            <a:ext cx="1705813" cy="292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7871" y="4617720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7171"/>
                </a:solidFill>
                <a:latin typeface="Consolas"/>
              </a:rPr>
              <a:t>134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RMA incelemesi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93684" y="4471416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93684" y="4471416"/>
            <a:ext cx="1705813" cy="292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21700" y="4617720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87171"/>
                </a:solidFill>
                <a:latin typeface="Consolas"/>
              </a:rPr>
              <a:t>135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İade öncesi test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27513" y="4471416"/>
            <a:ext cx="1705813" cy="786384"/>
          </a:xfrm>
          <a:prstGeom prst="roundRect">
            <a:avLst>
              <a:gd name="adj" fmla="val 8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27513" y="4471416"/>
            <a:ext cx="1705813" cy="29260"/>
          </a:xfrm>
          <a:prstGeom prst="rect">
            <a:avLst/>
          </a:prstGeom>
          <a:solidFill>
            <a:srgbClr val="889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55529" y="4617720"/>
            <a:ext cx="144978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8892B5"/>
                </a:solidFill>
                <a:latin typeface="Consolas"/>
              </a:rPr>
              <a:t>128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8892B5"/>
                </a:solidFill>
                <a:latin typeface="Segoe UI"/>
              </a:rPr>
              <a:t>Serbest bırakıldı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368" y="5623560"/>
            <a:ext cx="25603" cy="502920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" y="5623560"/>
            <a:ext cx="10692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892B5"/>
                </a:solidFill>
                <a:latin typeface="Segoe UI"/>
              </a:rPr>
              <a:t>Test başarısızsa cihaz geri döner: ara testten 138 → 109, son testten 125 → 109. İkisinde de L1/L2 onarımları yeniden teknisyene atanır.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Herkes yalnız kendi kapısını görür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8892B5"/>
                </a:solidFill>
                <a:latin typeface="Segoe UI"/>
              </a:rPr>
              <a:t>Menü role göre açılır ve her statü geçişi yetkiye bağlı. Depocu onarım kapatamaz, teknisyen sevkiyat yapamaz.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06040"/>
            <a:ext cx="3502152" cy="16002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43784"/>
            <a:ext cx="3026664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SPA_P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Yedek Parça Personeli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Kayıt kabul 100→101, ilk teste aktarma 101→102, müşteriye sevk 126→127.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606040"/>
            <a:ext cx="3502152" cy="16002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843784"/>
            <a:ext cx="3026664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QAC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Test Personeli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İlk teste kabul 102→103, üretime teslim 103→104, son teste kabul 124→125, sonuç 125→126/109.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06040"/>
            <a:ext cx="3502152" cy="16002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2843784"/>
            <a:ext cx="3026664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TEC_DISMANTLE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Demontaj Teknisyeni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Teknik departmana kabul 104→105, onarım planı, Üretime Aktar kararı, onaya gönderme 105→106.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25696"/>
            <a:ext cx="3502152" cy="16002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63440"/>
            <a:ext cx="3026664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ÜRETİM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Üretim Teknisyeni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Üretim kaydını görüntüleme, teknisyen atama, parça teslim alma, onarımı tamamlama.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4425696"/>
            <a:ext cx="3502152" cy="16002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4663440"/>
            <a:ext cx="3026664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HAVUZ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Onarım Havuzu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Batarya · Kamera · Ekran · Kasa · L1 · L2 · L3 — her ekibin kendi iş listesi.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425696"/>
            <a:ext cx="3502152" cy="16002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4663440"/>
            <a:ext cx="3026664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MNG / AS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Ara Test &amp; Yönetim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Ara test 138→124, müşteri onayı, fiyat matrisleri, departman ve kullanıcı yönetimi.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VERI MODELI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Onarım nedir? Satır değil, grup.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8892B5"/>
                </a:solidFill>
                <a:latin typeface="Segoe UI"/>
              </a:rPr>
              <a:t>repair_records tablosunda her satır bir PARÇADIR. Bir ONARIM ise aynı cihaz + aynı görev grubu altındaki TÜM satırlardır.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6126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Teknisyen ataması grubun hepsini birden atar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Tamamlama da grubun hepsini birden kapatır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Yeniden açma tam tersi yönde çalışır: kapalı satırları açar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Bir satır bile engelliyse hiçbiri işlenmez — yarım kapanmış onarım oluşamaz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029200"/>
            <a:ext cx="25603" cy="566928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029200"/>
            <a:ext cx="106920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892B5"/>
                </a:solidFill>
                <a:latin typeface="Segoe UI"/>
              </a:rPr>
              <a:t>Bu ayrım sistemin en kritik detayı. Tamamlama tek satırı kapattığı sürece cihaz "bitti" görünüyor ama alt seviye onarım sonsuza kadar bekliyordu.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148840"/>
            <a:ext cx="4343400" cy="3063240"/>
          </a:xfrm>
          <a:prstGeom prst="roundRect">
            <a:avLst>
              <a:gd name="adj" fmla="val 4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5784" y="2368296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9A13B"/>
                </a:solidFill>
                <a:latin typeface="Consolas"/>
              </a:rPr>
              <a:t>ÖRNEK — BİR CİHAZ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5784" y="2752344"/>
            <a:ext cx="1417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892B5"/>
                </a:solidFill>
                <a:latin typeface="Consolas"/>
              </a:rPr>
              <a:t>GRUP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3104" y="2752344"/>
            <a:ext cx="1554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892B5"/>
                </a:solidFill>
                <a:latin typeface="Consolas"/>
              </a:rPr>
              <a:t>PARÇA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7584" y="2752344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892B5"/>
                </a:solidFill>
                <a:latin typeface="Consolas"/>
              </a:rPr>
              <a:t>DURUM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15784" y="3008376"/>
            <a:ext cx="3886200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5784" y="311810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DEFF5"/>
                </a:solidFill>
                <a:latin typeface="Consolas"/>
              </a:rPr>
              <a:t>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311810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DEFF5"/>
                </a:solidFill>
                <a:latin typeface="Segoe UI"/>
              </a:rPr>
              <a:t>LCD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7584" y="311810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4D399"/>
                </a:solidFill>
                <a:latin typeface="Segoe UI"/>
              </a:rPr>
              <a:t>1002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15784" y="3346704"/>
            <a:ext cx="3886200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4" y="339242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DEFF5"/>
                </a:solidFill>
                <a:latin typeface="Consolas"/>
              </a:rPr>
              <a:t>BATTERY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3104" y="339242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DEFF5"/>
                </a:solidFill>
                <a:latin typeface="Segoe UI"/>
              </a:rPr>
              <a:t>Battery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7584" y="33924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4D399"/>
                </a:solidFill>
                <a:latin typeface="Segoe UI"/>
              </a:rPr>
              <a:t>1002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15784" y="3621024"/>
            <a:ext cx="3886200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4" y="366674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DEFF5"/>
                </a:solidFill>
                <a:latin typeface="Consolas"/>
              </a:rPr>
              <a:t>BATTERY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366674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DEFF5"/>
                </a:solidFill>
                <a:latin typeface="Segoe UI"/>
              </a:rPr>
              <a:t>Battery Flex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7584" y="366674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4D399"/>
                </a:solidFill>
                <a:latin typeface="Segoe UI"/>
              </a:rPr>
              <a:t>1002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15784" y="3895344"/>
            <a:ext cx="3886200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5784" y="394106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DEFF5"/>
                </a:solidFill>
                <a:latin typeface="Consolas"/>
              </a:rPr>
              <a:t>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94106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DEFF5"/>
                </a:solidFill>
                <a:latin typeface="Segoe UI"/>
              </a:rPr>
              <a:t>Back Cover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7584" y="39410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60A5FA"/>
                </a:solidFill>
                <a:latin typeface="Segoe UI"/>
              </a:rPr>
              <a:t>1001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15784" y="4169664"/>
            <a:ext cx="3886200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15784" y="421538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EDEFF5"/>
                </a:solidFill>
                <a:latin typeface="Consolas"/>
              </a:rPr>
              <a:t>L1REPAIR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3104" y="421538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EDEFF5"/>
                </a:solidFill>
                <a:latin typeface="Segoe UI"/>
              </a:rPr>
              <a:t>Receiver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7584" y="421538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A78BFA"/>
                </a:solidFill>
                <a:latin typeface="Segoe UI"/>
              </a:rPr>
              <a:t>1004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15784" y="4443984"/>
            <a:ext cx="3886200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15784" y="469087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892B5"/>
                </a:solidFill>
                <a:latin typeface="Segoe UI"/>
              </a:rPr>
              <a:t>Batarya onarımı iki satır, ikisi birlikte kapandı. L1 bekliyor çünkü Kasa hâlâ açık.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ONARIM STATÜLERI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EDEFF5"/>
                </a:solidFill>
                <a:latin typeface="Segoe UI"/>
              </a:rPr>
              <a:t>Bir onarımın geçebileceği dokuz durum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892B5"/>
                </a:solidFill>
                <a:latin typeface="Consolas"/>
              </a:rPr>
              <a:t>KOD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828800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892B5"/>
                </a:solidFill>
                <a:latin typeface="Consolas"/>
              </a:rPr>
              <a:t>ANLAMI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182880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892B5"/>
                </a:solidFill>
                <a:latin typeface="Consolas"/>
              </a:rPr>
              <a:t>NE ZAMAN OLUŞUR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84832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892B5"/>
                </a:solidFill>
                <a:latin typeface="Consolas"/>
              </a:rPr>
              <a:t>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1945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DEFF5"/>
                </a:solidFill>
                <a:latin typeface="Segoe UI"/>
              </a:rPr>
              <a:t>Teknisyene Atanacak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2194560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Onarım açıldı, havuzda bekliyor. Henüz kimseye atanmamış.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23160"/>
            <a:ext cx="10874959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68880"/>
            <a:ext cx="822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0A5FA"/>
                </a:solidFill>
                <a:latin typeface="Consolas"/>
              </a:rPr>
              <a:t>1001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468880"/>
            <a:ext cx="25603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DEFF5"/>
                </a:solidFill>
                <a:latin typeface="Segoe UI"/>
              </a:rPr>
              <a:t>Teknisyen Atandı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468880"/>
            <a:ext cx="7223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İş bir teknisyende. Parça teslimi ve tamamlama bu durumda yapılır.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25496"/>
            <a:ext cx="10874959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712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4D399"/>
                </a:solidFill>
                <a:latin typeface="Consolas"/>
              </a:rPr>
              <a:t>1002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287121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DEFF5"/>
                </a:solidFill>
                <a:latin typeface="Segoe UI"/>
              </a:rPr>
              <a:t>Onarım Tamamlandı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2871216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Bütün şartlar sağlandı ve iş kapandı. closed_at yazılır.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099816"/>
            <a:ext cx="10874959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14553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87171"/>
                </a:solidFill>
                <a:latin typeface="Consolas"/>
              </a:rPr>
              <a:t>1003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145536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DEFF5"/>
                </a:solidFill>
                <a:latin typeface="Segoe UI"/>
              </a:rPr>
              <a:t>Onarım İptal Edildi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3145536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İş yapılmayacak. Kural motorlarında hiç sayılmaz.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374136"/>
            <a:ext cx="10874959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419856"/>
            <a:ext cx="822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78BFA"/>
                </a:solidFill>
                <a:latin typeface="Consolas"/>
              </a:rPr>
              <a:t>1004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419856"/>
            <a:ext cx="25603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DEFF5"/>
                </a:solidFill>
                <a:latin typeface="Segoe UI"/>
              </a:rPr>
              <a:t>Sırada Bekliyor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3419856"/>
            <a:ext cx="7223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Kendinden yüksek seviyeli onarım açık. Teknisyen atanabilir; parça teslimi ve tamamlama kapalı.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776472"/>
            <a:ext cx="10874959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2219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A13B"/>
                </a:solidFill>
                <a:latin typeface="Consolas"/>
              </a:rPr>
              <a:t>1005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382219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DEFF5"/>
                </a:solidFill>
                <a:latin typeface="Segoe UI"/>
              </a:rPr>
              <a:t>Müşteri Onayı Bekliyor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822192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İş, müşteri onayı olmadan yapılamaz.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050792"/>
            <a:ext cx="10874959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096512"/>
            <a:ext cx="822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0A5FA"/>
                </a:solidFill>
                <a:latin typeface="Consolas"/>
              </a:rPr>
              <a:t>1006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68" y="4096512"/>
            <a:ext cx="25603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DEFF5"/>
                </a:solidFill>
                <a:latin typeface="Segoe UI"/>
              </a:rPr>
              <a:t>Onarım Testi Bekleniyor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096512"/>
            <a:ext cx="72237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Kamera / L3 / Ekran / Kasa tamamlanınca doğrudan 1002 olmaz — önce bitiş testi.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453128"/>
            <a:ext cx="10874959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498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A13B"/>
                </a:solidFill>
                <a:latin typeface="Consolas"/>
              </a:rPr>
              <a:t>1007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449884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DEFF5"/>
                </a:solidFill>
                <a:latin typeface="Segoe UI"/>
              </a:rPr>
              <a:t>Onarım Testi Başarısız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4498848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Bitiş testinden döndü, yeniden çalışılacak.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727448"/>
            <a:ext cx="10874959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77316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9A13B"/>
                </a:solidFill>
                <a:latin typeface="Consolas"/>
              </a:rPr>
              <a:t>1008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72768" y="47731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DEFF5"/>
                </a:solidFill>
                <a:latin typeface="Segoe UI"/>
              </a:rPr>
              <a:t>Parça Bekleniyor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24528" y="4773168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Depoda parça yok, iş parça gelene kadar duruyor.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5001768"/>
            <a:ext cx="10874959" cy="9525"/>
          </a:xfrm>
          <a:prstGeom prst="rect">
            <a:avLst/>
          </a:prstGeom>
          <a:solidFill>
            <a:srgbClr val="1E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SEVIYELENDIRME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Onarımlar rastgele değil, sırayla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892B5"/>
                </a:solidFill>
                <a:latin typeface="Segoe UI"/>
              </a:rPr>
              <a:t>Sıra mission_groups.order_number ile tanımlı: BÜYÜK olan önce, EŞİT olanlar paralel. Sırası gelmeyen onarım 1004 ile beklemeye alınır, üst seviye kapanınca kendiliğinden açılır.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51760"/>
            <a:ext cx="10874959" cy="713232"/>
          </a:xfrm>
          <a:prstGeom prst="roundRect">
            <a:avLst>
              <a:gd name="adj" fmla="val 9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651760"/>
            <a:ext cx="45720" cy="71323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651760"/>
            <a:ext cx="822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F87171"/>
                </a:solidFill>
                <a:latin typeface="Consolas"/>
              </a:rPr>
              <a:t>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651760"/>
            <a:ext cx="7863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DEFF5"/>
                </a:solidFill>
                <a:latin typeface="Segoe UI"/>
              </a:rPr>
              <a:t>RMA Kontrol ve Onarımı</a:t>
            </a:r>
          </a:p>
          <a:p>
            <a:pPr algn="l"/>
            <a:r>
              <a:rPr sz="1050" b="0">
                <a:solidFill>
                  <a:srgbClr val="8892B5"/>
                </a:solidFill>
                <a:latin typeface="Segoe UI"/>
              </a:rPr>
              <a:t>Her şeyden önce gelir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3808" y="2651760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F87171"/>
                </a:solidFill>
                <a:latin typeface="Consolas"/>
              </a:rPr>
              <a:t>1. sıra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93008"/>
            <a:ext cx="10874959" cy="713232"/>
          </a:xfrm>
          <a:prstGeom prst="roundRect">
            <a:avLst>
              <a:gd name="adj" fmla="val 9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493008"/>
            <a:ext cx="45720" cy="713232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493008"/>
            <a:ext cx="822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E9A13B"/>
                </a:solidFill>
                <a:latin typeface="Consolas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7088" y="3493008"/>
            <a:ext cx="7863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DEFF5"/>
                </a:solidFill>
                <a:latin typeface="Segoe UI"/>
              </a:rPr>
              <a:t>L3 Onarımı</a:t>
            </a:r>
          </a:p>
          <a:p>
            <a:pPr algn="l"/>
            <a:r>
              <a:rPr sz="1050" b="0">
                <a:solidFill>
                  <a:srgbClr val="8892B5"/>
                </a:solidFill>
                <a:latin typeface="Segoe UI"/>
              </a:rPr>
              <a:t>Anakart / mikro lehim seviyesi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8" y="3493008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E9A13B"/>
                </a:solidFill>
                <a:latin typeface="Consolas"/>
              </a:rPr>
              <a:t>2. sıra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34256"/>
            <a:ext cx="10874959" cy="713232"/>
          </a:xfrm>
          <a:prstGeom prst="roundRect">
            <a:avLst>
              <a:gd name="adj" fmla="val 9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334256"/>
            <a:ext cx="45720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34256"/>
            <a:ext cx="822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60A5FA"/>
                </a:solidFill>
                <a:latin typeface="Consola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334256"/>
            <a:ext cx="7863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DEFF5"/>
                </a:solidFill>
                <a:latin typeface="Segoe UI"/>
              </a:rPr>
              <a:t>Batarya · Kamera · Kasa · Ekran</a:t>
            </a:r>
          </a:p>
          <a:p>
            <a:pPr algn="l"/>
            <a:r>
              <a:rPr sz="1050" b="0">
                <a:solidFill>
                  <a:srgbClr val="8892B5"/>
                </a:solidFill>
                <a:latin typeface="Segoe UI"/>
              </a:rPr>
              <a:t>Dördü aynı seviyede — birbirini beklemez, paralel çalışır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4334256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60A5FA"/>
                </a:solidFill>
                <a:latin typeface="Consolas"/>
              </a:rPr>
              <a:t>3. sıra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175504"/>
            <a:ext cx="10874959" cy="713232"/>
          </a:xfrm>
          <a:prstGeom prst="roundRect">
            <a:avLst>
              <a:gd name="adj" fmla="val 9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175504"/>
            <a:ext cx="45720" cy="71323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175504"/>
            <a:ext cx="822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34D399"/>
                </a:solidFill>
                <a:latin typeface="Consola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5175504"/>
            <a:ext cx="7863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DEFF5"/>
                </a:solidFill>
                <a:latin typeface="Segoe UI"/>
              </a:rPr>
              <a:t>L1 / L2 Onarımı</a:t>
            </a:r>
          </a:p>
          <a:p>
            <a:pPr algn="l"/>
            <a:r>
              <a:rPr sz="1050" b="0">
                <a:solidFill>
                  <a:srgbClr val="8892B5"/>
                </a:solidFill>
                <a:latin typeface="Segoe UI"/>
              </a:rPr>
              <a:t>En son. Bittiğinde cihaz kendiliğinden Ara Test'e geçer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5175504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34D399"/>
                </a:solidFill>
                <a:latin typeface="Consolas"/>
              </a:rPr>
              <a:t>4. sıra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6016752"/>
            <a:ext cx="10874959" cy="713232"/>
          </a:xfrm>
          <a:prstGeom prst="roundRect">
            <a:avLst>
              <a:gd name="adj" fmla="val 9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6016752"/>
            <a:ext cx="45720" cy="713232"/>
          </a:xfrm>
          <a:prstGeom prst="rect">
            <a:avLst/>
          </a:prstGeom>
          <a:solidFill>
            <a:srgbClr val="889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6016752"/>
            <a:ext cx="822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8892B5"/>
                </a:solidFill>
                <a:latin typeface="Consola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7088" y="6016752"/>
            <a:ext cx="7863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DEFF5"/>
                </a:solidFill>
                <a:latin typeface="Segoe UI"/>
              </a:rPr>
              <a:t>Demontaj · Test</a:t>
            </a:r>
          </a:p>
          <a:p>
            <a:pPr algn="l"/>
            <a:r>
              <a:rPr sz="1050" b="0">
                <a:solidFill>
                  <a:srgbClr val="8892B5"/>
                </a:solidFill>
                <a:latin typeface="Segoe UI"/>
              </a:rPr>
              <a:t>Sıra numarası yok: ne bekletir ne bekletilir, her zaman görünür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6016752"/>
            <a:ext cx="1554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50" b="1">
                <a:solidFill>
                  <a:srgbClr val="8892B5"/>
                </a:solidFill>
                <a:latin typeface="Consolas"/>
              </a:rPr>
              <a:t>sırasız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KURAL MOTORU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DEFF5"/>
                </a:solidFill>
                <a:latin typeface="Segoe UI"/>
              </a:rPr>
              <a:t>Sistem yanlış parça kombinasyonuna izin vermiyor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892B5"/>
                </a:solidFill>
                <a:latin typeface="Segoe UI"/>
              </a:rPr>
              <a:t>Bazı parçalar aynı cihazda birlikte olamaz — LCD komple ekran modülüdür, ön cam ve arka aydınlatma zaten onun içinde gelir. Kural cihaz genelinde çalışır.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06040"/>
            <a:ext cx="5394960" cy="25146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163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9A13B"/>
                </a:solidFill>
                <a:latin typeface="Consolas"/>
              </a:rPr>
              <a:t>ÇAKIŞAN İKİLİLER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0040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8892B5"/>
                </a:solidFill>
                <a:latin typeface="Segoe UI"/>
              </a:rPr>
              <a:t>—  LCD  ↔  Front Glass · Front Bezel · Backlight · Touch Glass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8892B5"/>
                </a:solidFill>
                <a:latin typeface="Segoe UI"/>
              </a:rPr>
              <a:t>—  Touch Glass  ↔  Front Glass with POL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8892B5"/>
                </a:solidFill>
                <a:latin typeface="Segoe UI"/>
              </a:rPr>
              <a:t>—  Front Glass  ↔  Front Glass with POL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8892B5"/>
                </a:solidFill>
                <a:latin typeface="Segoe UI"/>
              </a:rPr>
              <a:t>—  Main Camera  ↔  5x · 1x · 0,5x objektifler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8892B5"/>
                </a:solidFill>
                <a:latin typeface="Segoe UI"/>
              </a:rPr>
              <a:t>—  Back Cover  ↔  Middle Frame · Back Glass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8892B5"/>
                </a:solidFill>
                <a:latin typeface="Segoe UI"/>
              </a:rPr>
              <a:t>—  Front Camera / _Y  ↔  Front Camera_R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2606040"/>
            <a:ext cx="5394960" cy="251460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8163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9A13B"/>
                </a:solidFill>
                <a:latin typeface="Consolas"/>
              </a:rPr>
              <a:t>"YALNIZCA BİR TANE" GRUPLARI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20040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8892B5"/>
                </a:solidFill>
                <a:latin typeface="Segoe UI"/>
              </a:rPr>
              <a:t>—  Batarya flexi — Battery / Cracked / Diag / Ti arasından bir tane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8892B5"/>
                </a:solidFill>
                <a:latin typeface="Segoe UI"/>
              </a:rPr>
              <a:t>—  Kombo flexler — On-Off · Volume Key · Receiver · Flash · NFC ve "+" ile paketlenmiş hâlleri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443484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Ayrıca: aynı parça iki kez eklenemez, tamamlanmış onarıma parça eklenemez, iptal edilen parça yeniden eklenebilir.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349240"/>
            <a:ext cx="25603" cy="566928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349240"/>
            <a:ext cx="106920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892B5"/>
                </a:solidFill>
                <a:latin typeface="Segoe UI"/>
              </a:rPr>
              <a:t>Kural hem ekleme hem düzenleme yolunda uygulanıyor. Ekranda çakışan parçalar listede üstü çizili ve sebebi yazılı görünür — kullanıcı reddedilecek bir istek göndermez.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TAMAMLAMA ŞARTLARI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Bir onarım hangi durumda kapanabilir?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8892B5"/>
                </a:solidFill>
                <a:latin typeface="Segoe UI"/>
              </a:rPr>
              <a:t>Dört şart tek bir yerde toplandı. Aynı kuralı hem normal ekran hem hızlı bitiş ekranı çağırır — kural iki yere yazılırsa zamanla ayrışır.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97480"/>
            <a:ext cx="2554147" cy="201168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935224"/>
            <a:ext cx="2078659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ŞART 1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Teknisyen atanmış olmalı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Kimin yaptığı bilinmeyen iş kapanamaz.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1971" y="2697480"/>
            <a:ext cx="2554147" cy="201168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9715" y="2935224"/>
            <a:ext cx="2078659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ŞART 2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Parça depodan çıkmış olmalı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Stok takipli parçada "Stoktan Çıktı" şartı aranır; takipsizde aranmaz.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5575" y="2697480"/>
            <a:ext cx="2554147" cy="201168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3319" y="2935224"/>
            <a:ext cx="2078659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ŞART 3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Müşteri onayı alınmış olmalı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Onay gerektiren akışlarda cihaz 106/107/136'da park ederken kapatılamaz.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179" y="2697480"/>
            <a:ext cx="2554147" cy="201168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E9A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6923" y="2935224"/>
            <a:ext cx="2078659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ŞART 4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Sırası gelmiş olmalı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Kendinden yüksek seviyede açık onarım varken kapanmaz. Parçasız kayıt sayılmaz.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029200"/>
            <a:ext cx="25603" cy="566928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029200"/>
            <a:ext cx="106920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892B5"/>
                </a:solidFill>
                <a:latin typeface="Segoe UI"/>
              </a:rPr>
              <a:t>Otomatik geçişler: son onarım kapandığında cihaz kendiliğinden 109 → 138 Ara Test'e geçer. İçine parça girilmemiş DGD işçilik satırı da diğer işler bitince otomatik tamamlanır.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TEST ZINCIRI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EDEFF5"/>
                </a:solidFill>
                <a:latin typeface="Segoe UI"/>
              </a:rPr>
              <a:t>PhoneCheck entegrasyonu ve üç test noktası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8892B5"/>
                </a:solidFill>
                <a:latin typeface="Segoe UI"/>
              </a:rPr>
              <a:t>Test verisi elle girilmiyor — IMEI okutulduğunda PhoneCheck API'sinden çekilip cihazın geçmişine yazılıyor.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6126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Giriş Testi  103→104  — cihazı üretime taşıyan test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Ara Test  138→124 / 138→109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Son Test  125→126 / 125→109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Onarım Bitiş Testi — Kamera / L3 / Ekran / Kasa için ayrı adım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26280"/>
            <a:ext cx="6126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Her test adımında en fazla 10 başarısız deneme hakkı var; hak dolunca sistem yeni denemeyi reddeder. Başarısızlar "1. Başarısız … (1/10)" diye numaralanır.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2194560"/>
            <a:ext cx="4343400" cy="3017520"/>
          </a:xfrm>
          <a:prstGeom prst="roundRect">
            <a:avLst>
              <a:gd name="adj" fmla="val 4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15784" y="2423160"/>
            <a:ext cx="38862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CİHAZ PHONECHECK'TE BULUNAMAZSA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100" b="0">
                <a:solidFill>
                  <a:srgbClr val="8892B5"/>
                </a:solidFill>
                <a:latin typeface="Segoe UI"/>
              </a:rPr>
              <a:t>Test verisi elle doldurulur ama gerekçe ZORUNLUDUR — kayıt "elle girildi" olarak işaretlenir, denetlenebilir kalır.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VERİ EKSİK GELİRSE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PhoneCheck cihazı bulup bazı alanları boş dönerse, gelenler dolu gelir, yalnız eksikler sorulur. Var olan kayıt tamamlanır — yeni deneme açılmaz, 10 hak boşuna tükenmez.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FIYAT VE ONAY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Onay kararını sistem veriyor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8892B5"/>
                </a:solidFill>
                <a:latin typeface="Segoe UI"/>
              </a:rPr>
              <a:t>Demontaj teknisyeni onarım planını kurar ve Üretime Aktar der. Sistem o anda parça fiyatları toplamını müşterinin hedef fiyat limiti ile karşılaştırır.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97480"/>
            <a:ext cx="3466490" cy="1874519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697480"/>
            <a:ext cx="41148" cy="1874519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35224"/>
            <a:ext cx="2991002" cy="1399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LİMİT İÇİNDE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Doğrudan üretime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Cihaz 105 → 109 geçer, iş başlar. Müşteriye sorulmaz.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602" y="2697480"/>
            <a:ext cx="3466490" cy="1874519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2602" y="2697480"/>
            <a:ext cx="41148" cy="1874519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0346" y="2935224"/>
            <a:ext cx="2991002" cy="1399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LİMİT AŞILDI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Müşteri onayına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Cihaz 105 → 106 gider. Buton "Müşteri Onayı Al"a döner ve basıldığında barkodlar da basılır.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2697480"/>
            <a:ext cx="3466490" cy="1874519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6836" y="2697480"/>
            <a:ext cx="41148" cy="1874519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4580" y="2935224"/>
            <a:ext cx="2991002" cy="13990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SONRADAN EKLENEN İŞ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EDEFF5"/>
                </a:solidFill>
                <a:latin typeface="Segoe UI"/>
              </a:rPr>
              <a:t>Karar yeniden verilir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Üretimdeki cihaza yeni onarım eklenirse cihaz karar aşamasına geri çekilir ve toplam yeniden değerlendirilir.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9204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892B5"/>
                </a:solidFill>
                <a:latin typeface="Segoe UI"/>
              </a:rPr>
              <a:t>Fiyat kaynakları: Müşteri Fiyat Matrisi (parça birim fiyatı) · Müşteri Hedef Fiyat Matrisi (cihaz başına üst limit) · Müşteri İşçilik Fiyatı Matrisi · seviye bazlı işçilik.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DEPO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EDEFF5"/>
                </a:solidFill>
                <a:latin typeface="Segoe UI"/>
              </a:rPr>
              <a:t>Parça, teslim edilmeden onarım kapanmıyor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5760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Depo → Parça Teslim ekranı: teknisyene çıkan her parça kaydedilir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Sırası gelmemiş onarımın parçası teslim edilemez — ekranda "Sırada Bekliyor, önce şu onarım" görünür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Reçete (Product BOM) cihazın modeline göre gösterilecek parçaları belirler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Stok hareketleri, irsaliye ve iş emirleri aynı veriden beslenir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00" b="0">
                <a:solidFill>
                  <a:srgbClr val="8892B5"/>
                </a:solidFill>
                <a:latin typeface="Segoe UI"/>
              </a:rPr>
              <a:t>—  DGD işçilik kalemi gerçek stok değildir — depo çıkışı yapılmaz</a:t>
            </a:r>
          </a:p>
        </p:txBody>
      </p:sp>
      <p:pic>
        <p:nvPicPr>
          <p:cNvPr id="8" name="Picture 7" descr="12_onarimhavuz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4983480" cy="27326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37960" y="1965960"/>
            <a:ext cx="4983480" cy="2732625"/>
          </a:xfrm>
          <a:prstGeom prst="rect">
            <a:avLst/>
          </a:prstGeom>
          <a:noFill/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89204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892B5"/>
                </a:solidFill>
                <a:latin typeface="Consolas"/>
              </a:rPr>
              <a:t>Onarım Havuzu — ekibin kendi iş listesi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EKRANLAR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EDEFF5"/>
                </a:solidFill>
                <a:latin typeface="Segoe UI"/>
              </a:rPr>
              <a:t>Sahada kullanılan arayüz</a:t>
            </a:r>
          </a:p>
        </p:txBody>
      </p:sp>
      <p:pic>
        <p:nvPicPr>
          <p:cNvPr id="7" name="Picture 6" descr="07_technic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48840"/>
            <a:ext cx="5394960" cy="29582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2148840"/>
            <a:ext cx="5394960" cy="2958255"/>
          </a:xfrm>
          <a:prstGeom prst="rect">
            <a:avLst/>
          </a:prstGeom>
          <a:noFill/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285232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92B5"/>
                </a:solidFill>
                <a:latin typeface="Consolas"/>
              </a:rPr>
              <a:t>Üretim Kaydını Görüntüle — onarım grupları, parçalar, statüler</a:t>
            </a:r>
          </a:p>
        </p:txBody>
      </p:sp>
      <p:pic>
        <p:nvPicPr>
          <p:cNvPr id="10" name="Picture 9" descr="08_demonta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148840"/>
            <a:ext cx="5394960" cy="295825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27648" y="2148840"/>
            <a:ext cx="5394960" cy="2958255"/>
          </a:xfrm>
          <a:prstGeom prst="rect">
            <a:avLst/>
          </a:prstGeom>
          <a:noFill/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5285232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92B5"/>
                </a:solidFill>
                <a:latin typeface="Consolas"/>
              </a:rPr>
              <a:t>Üretime Aktar — onarım planı ve karar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EKRANLAR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EDEFF5"/>
                </a:solidFill>
                <a:latin typeface="Segoe UI"/>
              </a:rPr>
              <a:t>Sorgulama ve test ekranları</a:t>
            </a:r>
          </a:p>
        </p:txBody>
      </p:sp>
      <p:pic>
        <p:nvPicPr>
          <p:cNvPr id="7" name="Picture 6" descr="03_ser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48840"/>
            <a:ext cx="5394960" cy="29582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8368" y="2148840"/>
            <a:ext cx="5394960" cy="2958255"/>
          </a:xfrm>
          <a:prstGeom prst="rect">
            <a:avLst/>
          </a:prstGeom>
          <a:noFill/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285232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92B5"/>
                </a:solidFill>
                <a:latin typeface="Consolas"/>
              </a:rPr>
              <a:t>Cihaz Sorgulama — statü geçmişi, testler, onarımlar</a:t>
            </a:r>
          </a:p>
        </p:txBody>
      </p:sp>
      <p:pic>
        <p:nvPicPr>
          <p:cNvPr id="10" name="Picture 9" descr="10_son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148840"/>
            <a:ext cx="5394960" cy="295825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27648" y="2148840"/>
            <a:ext cx="5394960" cy="2958255"/>
          </a:xfrm>
          <a:prstGeom prst="rect">
            <a:avLst/>
          </a:prstGeom>
          <a:noFill/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5285232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892B5"/>
                </a:solidFill>
                <a:latin typeface="Consolas"/>
              </a:rPr>
              <a:t>Son Test Sonuç — başarılıysa etiket basımı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ETIKET VE BARKOD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Etiket tasarımı koda gömülü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8892B5"/>
                </a:solidFill>
                <a:latin typeface="Segoe UI"/>
              </a:rPr>
              <a:t>Şablonlar veritabanında tutulur ve Etiket Tasarımı ekranından düzenlenir. Üç tür etiket var: parça, üretime teslim, cihaz.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61264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Barkod gerçek Code 39 yazı tipiyle basılır; yazı tipi hazır olmadan basım yapılmaz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Başlangıç/bitiş işareti parantez — yıldız kaldırıldı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DYMO 99014 (54×101 mm) için tam sayfa modu, kenar payı, "tek sayfaya sığdır" ölçümü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Yazdır'a basınca pencere iş bitince kendi kapanır; aynı etiket iki kez basılamaz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Demontaj'da "Üretime Aktar" ve "Müşteri Onayı Al" barkodları otomatik basar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2194560"/>
            <a:ext cx="4343400" cy="2743200"/>
          </a:xfrm>
          <a:prstGeom prst="roundRect">
            <a:avLst>
              <a:gd name="adj" fmla="val 4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5784" y="2395728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9A13B"/>
                </a:solidFill>
                <a:latin typeface="Consolas"/>
              </a:rPr>
              <a:t>ÜRETİME TESLİM ETİKETİ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926080"/>
            <a:ext cx="4343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DEFF5"/>
                </a:solidFill>
                <a:latin typeface="Consolas"/>
              </a:rPr>
              <a:t>( 3 5 8 1 2 0 )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5784" y="3794760"/>
            <a:ext cx="3886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8892B5"/>
                </a:solidFill>
                <a:latin typeface="Segoe UI"/>
              </a:rPr>
              <a:t>IMEI · Model · Parti · Açıklama · Lokasyon · Referans</a:t>
            </a:r>
          </a:p>
          <a:p>
            <a:pPr algn="ctr"/>
            <a:r>
              <a:rPr sz="1100" b="1">
                <a:solidFill>
                  <a:srgbClr val="E9A13B"/>
                </a:solidFill>
                <a:latin typeface="Segoe UI"/>
              </a:rPr>
              <a:t>Form eksiksiz dolmadan yazdırılamaz.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BU DÖNEMDE EKLENENLER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EDEFF5"/>
                </a:solidFill>
                <a:latin typeface="Segoe UI"/>
              </a:rPr>
              <a:t>Kurallar sisteme yerleşti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478682" cy="1298448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66544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SEVİYELENDİRME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RMA → L3 → Batarya/Kamera/Kasa/Ekran → L1/L2 sırası kuruldu. Sırası gelmeyen iş 1004 ile bekletiliyor.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506" y="1828800"/>
            <a:ext cx="3478682" cy="1298448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4250" y="2066544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GRUP SEVİYESİNDE İŞLEM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Tamamlama artık tek parça satırını değil onarımın tamamını kapatıyor.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4644" y="1828800"/>
            <a:ext cx="3478682" cy="1298448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2388" y="2066544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OTOMATİK ARA TEST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Son onarım kapanınca cihaz 109 → 138 kendiliğinden geçiyor; ayrı buton kaldırıldı.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10128"/>
            <a:ext cx="3478682" cy="1298448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547872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PARÇA ÇAKIŞMA KURALLARI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11 kural, 185 parça kategorisinin tamamında sınandı. Backend ve arayüz aynı sonucu veriyor.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506" y="3310128"/>
            <a:ext cx="3478682" cy="1298448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4250" y="3547872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TEST DÖNÜŞÜ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Ara/son testten dönen cihazda yalnız L1/L2 teknisyene geri atanıyor.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4644" y="3310128"/>
            <a:ext cx="3478682" cy="1298448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2388" y="3547872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TEK FORM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Test verisi ve barkod bilgileri tek formda toplandı; eksik alan varken kaydedilemiyor.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791456"/>
            <a:ext cx="3478682" cy="1298448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029200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AÇIK İŞ SAYACI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Teknisyenin açık iş sayısı onarım bazında sayılıyor ve iş bitince düşüyor.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6506" y="4791456"/>
            <a:ext cx="3478682" cy="1298448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4250" y="5029200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KAPANIŞ ZAMANI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closed_at eklendi; statü geçmişinde işin gerçekten kapandığı an görünüyor.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4644" y="4791456"/>
            <a:ext cx="3478682" cy="1298448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2388" y="5029200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E9A13B"/>
                </a:solidFill>
                <a:latin typeface="Consolas"/>
              </a:rPr>
              <a:t>CİHAZ İADE İZİ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92B5"/>
                </a:solidFill>
                <a:latin typeface="Segoe UI"/>
              </a:rPr>
              <a:t>İade prosedürü statü geçmişine sebebiyle birlikte yazılıyor.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SAYILARLA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Projenin bugünkü hâli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554147" cy="1481328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94560"/>
            <a:ext cx="21152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DEFF5"/>
                </a:solidFill>
                <a:latin typeface="Consolas"/>
              </a:rPr>
              <a:t>33.5K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satır arayüz kodu
(63 dosya)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1971" y="2011680"/>
            <a:ext cx="2554147" cy="1481328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1427" y="2194560"/>
            <a:ext cx="21152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DEFF5"/>
                </a:solidFill>
                <a:latin typeface="Consolas"/>
              </a:rPr>
              <a:t>18.7K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satır Python
iş mantığı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5575" y="2011680"/>
            <a:ext cx="2554147" cy="1481328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5031" y="2194560"/>
            <a:ext cx="21152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DEFF5"/>
                </a:solidFill>
                <a:latin typeface="Consolas"/>
              </a:rPr>
              <a:t>48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veri modeli
(tablo eşleşmesi)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9179" y="2011680"/>
            <a:ext cx="2554147" cy="1481328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8635" y="2194560"/>
            <a:ext cx="21152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DEFF5"/>
                </a:solidFill>
                <a:latin typeface="Consolas"/>
              </a:rPr>
              <a:t>185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parça
kategorisi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03320"/>
            <a:ext cx="2554147" cy="1481328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86200"/>
            <a:ext cx="21152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9A13B"/>
                </a:solidFill>
                <a:latin typeface="Consolas"/>
              </a:rPr>
              <a:t>40+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ekran / menü
girişi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31971" y="3703320"/>
            <a:ext cx="2554147" cy="1481328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1427" y="3886200"/>
            <a:ext cx="21152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9A13B"/>
                </a:solidFill>
                <a:latin typeface="Consolas"/>
              </a:rPr>
              <a:t>24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cihaz
statüsü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5575" y="3703320"/>
            <a:ext cx="2554147" cy="1481328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3886200"/>
            <a:ext cx="21152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9A13B"/>
                </a:solidFill>
                <a:latin typeface="Consolas"/>
              </a:rPr>
              <a:t>11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parça çakışma
kuralı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179" y="3703320"/>
            <a:ext cx="2554147" cy="1481328"/>
          </a:xfrm>
          <a:prstGeom prst="roundRect">
            <a:avLst>
              <a:gd name="adj" fmla="val 6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635" y="3886200"/>
            <a:ext cx="21152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E9A13B"/>
                </a:solidFill>
                <a:latin typeface="Consolas"/>
              </a:rPr>
              <a:t>10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8892B5"/>
                </a:solidFill>
                <a:latin typeface="Segoe UI"/>
              </a:rPr>
              <a:t>test denemesi
üst sınırı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48640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8892B5"/>
                </a:solidFill>
                <a:latin typeface="Segoe UI"/>
              </a:rPr>
              <a:t>Veritabanı: PostgreSQL — warehouse ve organization şemaları, Türkçe sıralama için ICU tr-TR collation.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A13B"/>
                </a:solidFill>
                <a:latin typeface="Consola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475488"/>
            <a:ext cx="8588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92B5"/>
                </a:solidFill>
                <a:latin typeface="Consolas"/>
              </a:rPr>
              <a:t>SIRADAKI ADIMLAR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786384"/>
            <a:ext cx="10874959" cy="9525"/>
          </a:xfrm>
          <a:prstGeom prst="rect">
            <a:avLst/>
          </a:prstGeom>
          <a:solidFill>
            <a:srgbClr val="272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024128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DEFF5"/>
                </a:solidFill>
                <a:latin typeface="Segoe UI"/>
              </a:rPr>
              <a:t>Açık başlıklar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0319" cy="237744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31136"/>
            <a:ext cx="4843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9A13B"/>
                </a:solidFill>
                <a:latin typeface="Consolas"/>
              </a:rPr>
              <a:t>VERİ TEMİZLİĞİ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484311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Kurallar öncesinde girilmiş Back Cover + Back Glass çakışmaları (10 cihaz) ve fazla batarya flexleri (5 cihaz)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Cihaza bağlanamayan 75 sahipsiz onarım grubu (209 satır)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011680"/>
            <a:ext cx="5300319" cy="2377440"/>
          </a:xfrm>
          <a:prstGeom prst="roundRect">
            <a:avLst>
              <a:gd name="adj" fmla="val 5000"/>
            </a:avLst>
          </a:prstGeom>
          <a:solidFill>
            <a:srgbClr val="171A24"/>
          </a:solidFill>
          <a:ln w="9525">
            <a:solidFill>
              <a:srgbClr val="272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0751" y="2231136"/>
            <a:ext cx="48431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9A13B"/>
                </a:solidFill>
                <a:latin typeface="Consolas"/>
              </a:rPr>
              <a:t>EKSİK / KARAR BEKLEYEN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2651760"/>
            <a:ext cx="484311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Rezervasyon sistemi henüz yok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Hedef fiyat matrisinin kapsamı genişletilmeli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8892B5"/>
                </a:solidFill>
                <a:latin typeface="Segoe UI"/>
              </a:rPr>
              <a:t>—  mission_groups.order_number için arayüzde düzenleme ekranı yok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709160"/>
            <a:ext cx="25603" cy="566928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709160"/>
            <a:ext cx="106920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8892B5"/>
                </a:solidFill>
                <a:latin typeface="Segoe UI"/>
              </a:rPr>
              <a:t>Parça çakışma kuralları ve seviyelendirme artık sistemin çekirdeğinde. Bundan sonraki kurallar tek satır ekleyerek tanımlanabiliyor — liste backend ve arayüzde tek yerde.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A13B"/>
                </a:solidFill>
                <a:latin typeface="Consolas"/>
              </a:rPr>
              <a:t>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603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EDEFF5"/>
                </a:solidFill>
                <a:latin typeface="Segoe UI"/>
              </a:rPr>
              <a:t>Sorular?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862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892B5"/>
                </a:solidFill>
                <a:latin typeface="Segoe UI"/>
              </a:rPr>
              <a:t>RemaLab WMS — depo, servis ve onarım operasyonunun tamamı tek sistemde.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63440"/>
            <a:ext cx="3108960" cy="28575"/>
          </a:xfrm>
          <a:prstGeom prst="rect">
            <a:avLst/>
          </a:prstGeom>
          <a:solidFill>
            <a:srgbClr val="E9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